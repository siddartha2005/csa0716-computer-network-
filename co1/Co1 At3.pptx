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8" r:id="rId7"/>
    <p:sldId id="265" r:id="rId8"/>
    <p:sldId id="267" r:id="rId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512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17788" y="-15099"/>
            <a:ext cx="5835650" cy="955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20829" y="1253169"/>
            <a:ext cx="10428605" cy="4210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51775" y="5540846"/>
            <a:ext cx="3578225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lang="en-US" sz="2000" dirty="0">
                <a:latin typeface="Times New Roman"/>
                <a:cs typeface="Times New Roman"/>
              </a:rPr>
              <a:t>Presentation By :</a:t>
            </a:r>
          </a:p>
          <a:p>
            <a:pPr marL="12700" marR="5080">
              <a:lnSpc>
                <a:spcPct val="100000"/>
              </a:lnSpc>
            </a:pPr>
            <a:br>
              <a:rPr lang="en-US" sz="2000" dirty="0">
                <a:latin typeface="Times New Roman"/>
                <a:cs typeface="Times New Roman"/>
              </a:rPr>
            </a:br>
            <a:r>
              <a:rPr sz="2000" dirty="0">
                <a:latin typeface="Times New Roman"/>
                <a:cs typeface="Times New Roman"/>
              </a:rPr>
              <a:t>Y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Siddartha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Achari </a:t>
            </a:r>
            <a:r>
              <a:rPr sz="2000" spc="-10" dirty="0">
                <a:latin typeface="Times New Roman"/>
                <a:cs typeface="Times New Roman"/>
              </a:rPr>
              <a:t>(192425047)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76325" y="885782"/>
            <a:ext cx="10039985" cy="3664465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379730" algn="ctr">
              <a:lnSpc>
                <a:spcPct val="100000"/>
              </a:lnSpc>
              <a:spcBef>
                <a:spcPts val="715"/>
              </a:spcBef>
            </a:pPr>
            <a:r>
              <a:rPr sz="25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SIMATS</a:t>
            </a:r>
            <a:r>
              <a:rPr sz="2500" b="1" spc="-11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ENGINEERING</a:t>
            </a:r>
            <a:endParaRPr sz="2500" dirty="0">
              <a:latin typeface="Times New Roman"/>
              <a:cs typeface="Times New Roman"/>
            </a:endParaRPr>
          </a:p>
          <a:p>
            <a:pPr marL="1651000" marR="1261110" algn="ctr">
              <a:lnSpc>
                <a:spcPct val="108800"/>
              </a:lnSpc>
              <a:spcBef>
                <a:spcPts val="355"/>
              </a:spcBef>
            </a:pPr>
            <a:r>
              <a:rPr sz="2500" b="1" dirty="0">
                <a:solidFill>
                  <a:srgbClr val="FF0000"/>
                </a:solidFill>
                <a:latin typeface="Times New Roman"/>
                <a:cs typeface="Times New Roman"/>
              </a:rPr>
              <a:t>Saveetha</a:t>
            </a:r>
            <a:r>
              <a:rPr sz="2500" b="1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0000"/>
                </a:solidFill>
                <a:latin typeface="Times New Roman"/>
                <a:cs typeface="Times New Roman"/>
              </a:rPr>
              <a:t>Institute</a:t>
            </a:r>
            <a:r>
              <a:rPr sz="2500" b="1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500" b="1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0000"/>
                </a:solidFill>
                <a:latin typeface="Times New Roman"/>
                <a:cs typeface="Times New Roman"/>
              </a:rPr>
              <a:t>Medical</a:t>
            </a:r>
            <a:r>
              <a:rPr sz="2500" b="1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2500" b="1" spc="-1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Technical</a:t>
            </a:r>
            <a:r>
              <a:rPr sz="2500" b="1" spc="-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Sciences </a:t>
            </a:r>
            <a:r>
              <a:rPr sz="2500" b="1" dirty="0">
                <a:solidFill>
                  <a:srgbClr val="FF0000"/>
                </a:solidFill>
                <a:latin typeface="Times New Roman"/>
                <a:cs typeface="Times New Roman"/>
              </a:rPr>
              <a:t>Chennai-</a:t>
            </a:r>
            <a:r>
              <a:rPr sz="25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602105</a:t>
            </a:r>
            <a:r>
              <a:rPr sz="16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.</a:t>
            </a:r>
            <a:endParaRPr lang="en-US" sz="1600" dirty="0">
              <a:latin typeface="Times New Roman"/>
              <a:cs typeface="Times New Roman"/>
            </a:endParaRPr>
          </a:p>
          <a:p>
            <a:pPr marL="287655" marR="5080" indent="609600" algn="ctr">
              <a:lnSpc>
                <a:spcPct val="150000"/>
              </a:lnSpc>
              <a:spcBef>
                <a:spcPts val="2770"/>
              </a:spcBef>
            </a:pPr>
            <a:r>
              <a:rPr lang="en-US" sz="3200" b="1" dirty="0">
                <a:latin typeface="Times New Roman"/>
                <a:cs typeface="Times New Roman"/>
              </a:rPr>
              <a:t>Network Function Virtualization (NFV) and the OSI Architecture</a:t>
            </a:r>
            <a:endParaRPr sz="3200" dirty="0">
              <a:latin typeface="Times New Roman"/>
              <a:cs typeface="Times New Roman"/>
            </a:endParaRPr>
          </a:p>
          <a:p>
            <a:pPr marL="4323715" marR="858519" indent="-2969260" algn="ctr">
              <a:lnSpc>
                <a:spcPct val="100000"/>
              </a:lnSpc>
            </a:pPr>
            <a:r>
              <a:rPr sz="3000" b="1" spc="-10" dirty="0">
                <a:latin typeface="Times New Roman"/>
                <a:cs typeface="Times New Roman"/>
              </a:rPr>
              <a:t>CSA0</a:t>
            </a:r>
            <a:r>
              <a:rPr lang="en-US" sz="3000" b="1" spc="-10" dirty="0">
                <a:latin typeface="Times New Roman"/>
                <a:cs typeface="Times New Roman"/>
              </a:rPr>
              <a:t>716</a:t>
            </a:r>
            <a:r>
              <a:rPr sz="3000" b="1" spc="-10" dirty="0">
                <a:latin typeface="Times New Roman"/>
                <a:cs typeface="Times New Roman"/>
              </a:rPr>
              <a:t>-</a:t>
            </a:r>
            <a:r>
              <a:rPr lang="en-US" sz="3000" b="1" spc="-10" dirty="0">
                <a:latin typeface="Times New Roman"/>
                <a:cs typeface="Times New Roman"/>
              </a:rPr>
              <a:t> Computer Network</a:t>
            </a:r>
            <a:endParaRPr sz="30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79213" y="1"/>
            <a:ext cx="712786" cy="91439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33602"/>
            <a:ext cx="909636" cy="90011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09637" y="5530999"/>
            <a:ext cx="2214564" cy="8936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lang="en-IN" sz="2000" dirty="0">
                <a:solidFill>
                  <a:srgbClr val="17365D"/>
                </a:solidFill>
                <a:latin typeface="Times New Roman"/>
                <a:cs typeface="Times New Roman"/>
              </a:rPr>
              <a:t>Professor</a:t>
            </a:r>
            <a:r>
              <a:rPr lang="en-IN" sz="2000" spc="-95" dirty="0">
                <a:solidFill>
                  <a:srgbClr val="17365D"/>
                </a:solidFill>
                <a:latin typeface="Times New Roman"/>
                <a:cs typeface="Times New Roman"/>
              </a:rPr>
              <a:t> </a:t>
            </a:r>
            <a:r>
              <a:rPr lang="en-IN" sz="2000" spc="-50" dirty="0">
                <a:latin typeface="Times New Roman"/>
                <a:cs typeface="Times New Roman"/>
              </a:rPr>
              <a:t>: 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lang="en-US" sz="2000" dirty="0" err="1">
                <a:latin typeface="Times New Roman"/>
                <a:cs typeface="Times New Roman"/>
              </a:rPr>
              <a:t>Dr.Abrena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4234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Abstract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43418" y="22485"/>
            <a:ext cx="712786" cy="91439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22485"/>
            <a:ext cx="878312" cy="90011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20827" y="1442083"/>
            <a:ext cx="10436860" cy="441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6080" marR="5080" indent="-374015" algn="just">
              <a:lnSpc>
                <a:spcPct val="150000"/>
              </a:lnSpc>
              <a:spcBef>
                <a:spcPts val="100"/>
              </a:spcBef>
              <a:buFont typeface="Wingdings" panose="05000000000000000000" pitchFamily="2" charset="2"/>
              <a:buChar char="Ø"/>
              <a:tabLst>
                <a:tab pos="386080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NFV transforms traditional hardware-based network devices into software-based virtual network functions (VNFs)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endParaRPr sz="2400" dirty="0">
              <a:latin typeface="Times New Roman"/>
              <a:cs typeface="Times New Roman"/>
            </a:endParaRPr>
          </a:p>
          <a:p>
            <a:pPr marL="386080" marR="31750" indent="-374015" algn="just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386080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The OSI architecture provides a standardized 7-layer model for network communication and data transfer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endParaRPr sz="2400" dirty="0">
              <a:latin typeface="Times New Roman"/>
              <a:cs typeface="Times New Roman"/>
            </a:endParaRPr>
          </a:p>
          <a:p>
            <a:pPr marL="386080" marR="5080" indent="-374015" algn="just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386080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NFV can virtualize functions operating at multiple OSI layers, such as virtual routers, switches, firewalls, and load balancers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endParaRPr sz="2400" dirty="0">
              <a:latin typeface="Times New Roman"/>
              <a:cs typeface="Times New Roman"/>
            </a:endParaRPr>
          </a:p>
          <a:p>
            <a:pPr marL="386080" marR="19685" indent="-374015" algn="just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386080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Integrating NFV with the OSI model improves scalability, flexibility, and efficient resource utilization in modern networks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4234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43418" y="22485"/>
            <a:ext cx="712786" cy="91439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22485"/>
            <a:ext cx="878312" cy="90011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20827" y="1442083"/>
            <a:ext cx="10443210" cy="4224554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386715" indent="-374015" algn="just">
              <a:lnSpc>
                <a:spcPct val="150000"/>
              </a:lnSpc>
              <a:spcBef>
                <a:spcPts val="1540"/>
              </a:spcBef>
              <a:buFont typeface="Wingdings" panose="05000000000000000000" pitchFamily="2" charset="2"/>
              <a:buChar char="Ø"/>
              <a:tabLst>
                <a:tab pos="386715" algn="l"/>
              </a:tabLst>
            </a:pPr>
            <a:r>
              <a:rPr lang="en-IN" sz="2400" dirty="0">
                <a:latin typeface="Times New Roman"/>
                <a:cs typeface="Times New Roman"/>
              </a:rPr>
              <a:t>Network Function Virtualization (NFV) is a technology that virtualizes network services using software.</a:t>
            </a:r>
          </a:p>
          <a:p>
            <a:pPr marL="386715" indent="-374015" algn="just">
              <a:lnSpc>
                <a:spcPct val="150000"/>
              </a:lnSpc>
              <a:spcBef>
                <a:spcPts val="1540"/>
              </a:spcBef>
              <a:buFont typeface="Wingdings" panose="05000000000000000000" pitchFamily="2" charset="2"/>
              <a:buChar char="Ø"/>
              <a:tabLst>
                <a:tab pos="386715" algn="l"/>
              </a:tabLst>
            </a:pPr>
            <a:r>
              <a:rPr lang="en-IN" sz="2400" dirty="0">
                <a:latin typeface="Times New Roman"/>
                <a:cs typeface="Times New Roman"/>
              </a:rPr>
              <a:t>It replaces traditional hardware devices such as routers, switches, and firewalls.</a:t>
            </a:r>
          </a:p>
          <a:p>
            <a:pPr marL="386715" indent="-374015" algn="just">
              <a:lnSpc>
                <a:spcPct val="150000"/>
              </a:lnSpc>
              <a:spcBef>
                <a:spcPts val="1540"/>
              </a:spcBef>
              <a:buFont typeface="Wingdings" panose="05000000000000000000" pitchFamily="2" charset="2"/>
              <a:buChar char="Ø"/>
              <a:tabLst>
                <a:tab pos="386715" algn="l"/>
              </a:tabLst>
            </a:pPr>
            <a:r>
              <a:rPr lang="en-IN" sz="2400" dirty="0">
                <a:latin typeface="Times New Roman"/>
                <a:cs typeface="Times New Roman"/>
              </a:rPr>
              <a:t>OSI Architecture is a 7-layer reference model used for network communication.</a:t>
            </a:r>
          </a:p>
          <a:p>
            <a:pPr marL="386715" indent="-374015" algn="just">
              <a:lnSpc>
                <a:spcPct val="150000"/>
              </a:lnSpc>
              <a:spcBef>
                <a:spcPts val="1540"/>
              </a:spcBef>
              <a:buFont typeface="Wingdings" panose="05000000000000000000" pitchFamily="2" charset="2"/>
              <a:buChar char="Ø"/>
              <a:tabLst>
                <a:tab pos="386715" algn="l"/>
              </a:tabLst>
            </a:pPr>
            <a:r>
              <a:rPr lang="en-IN" sz="2400" dirty="0">
                <a:latin typeface="Times New Roman"/>
                <a:cs typeface="Times New Roman"/>
              </a:rPr>
              <a:t>Each OSI layer performs a specific communication function.</a:t>
            </a:r>
          </a:p>
          <a:p>
            <a:pPr marL="386715" indent="-374015" algn="just">
              <a:lnSpc>
                <a:spcPct val="150000"/>
              </a:lnSpc>
              <a:spcBef>
                <a:spcPts val="1540"/>
              </a:spcBef>
              <a:buFont typeface="Wingdings" panose="05000000000000000000" pitchFamily="2" charset="2"/>
              <a:buChar char="Ø"/>
              <a:tabLst>
                <a:tab pos="386715" algn="l"/>
              </a:tabLst>
            </a:pPr>
            <a:r>
              <a:rPr lang="en-IN" sz="2400" dirty="0">
                <a:latin typeface="Times New Roman"/>
                <a:cs typeface="Times New Roman"/>
              </a:rPr>
              <a:t>NFV can operate across multiple OSI layers to provide virtual network services.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4841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Objectives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878312" cy="90011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79213" y="0"/>
            <a:ext cx="712786" cy="91439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20827" y="1752600"/>
            <a:ext cx="10474325" cy="33089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6080" marR="5080" indent="-374015" algn="just">
              <a:lnSpc>
                <a:spcPct val="150000"/>
              </a:lnSpc>
              <a:spcBef>
                <a:spcPts val="100"/>
              </a:spcBef>
              <a:buFont typeface="Lucida Sans Unicode"/>
              <a:buChar char="□"/>
              <a:tabLst>
                <a:tab pos="386080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To understand the concept of Network Function Virtualization (NFV).</a:t>
            </a:r>
          </a:p>
          <a:p>
            <a:pPr marL="386080" marR="5080" indent="-374015" algn="just">
              <a:lnSpc>
                <a:spcPct val="150000"/>
              </a:lnSpc>
              <a:spcBef>
                <a:spcPts val="100"/>
              </a:spcBef>
              <a:buFont typeface="Lucida Sans Unicode"/>
              <a:buChar char="□"/>
              <a:tabLst>
                <a:tab pos="386080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To study the seven layers of the OSI </a:t>
            </a:r>
            <a:r>
              <a:rPr lang="en-US" sz="2400" dirty="0" err="1">
                <a:latin typeface="Times New Roman"/>
                <a:cs typeface="Times New Roman"/>
              </a:rPr>
              <a:t>architecture.To</a:t>
            </a:r>
            <a:r>
              <a:rPr lang="en-US" sz="2400" dirty="0">
                <a:latin typeface="Times New Roman"/>
                <a:cs typeface="Times New Roman"/>
              </a:rPr>
              <a:t> analyze how NFV functions operate across different OSI layers.</a:t>
            </a:r>
          </a:p>
          <a:p>
            <a:pPr marL="386080" marR="5080" indent="-374015" algn="just">
              <a:lnSpc>
                <a:spcPct val="150000"/>
              </a:lnSpc>
              <a:spcBef>
                <a:spcPts val="100"/>
              </a:spcBef>
              <a:buFont typeface="Lucida Sans Unicode"/>
              <a:buChar char="□"/>
              <a:tabLst>
                <a:tab pos="386080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To identify the advantages of integrating NFV with the OSI model.</a:t>
            </a:r>
          </a:p>
          <a:p>
            <a:pPr marL="386080" marR="5080" indent="-374015" algn="just">
              <a:lnSpc>
                <a:spcPct val="150000"/>
              </a:lnSpc>
              <a:spcBef>
                <a:spcPts val="100"/>
              </a:spcBef>
              <a:buFont typeface="Lucida Sans Unicode"/>
              <a:buChar char="□"/>
              <a:tabLst>
                <a:tab pos="386080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To explore the applications of NFV in cloud computing, data centers, and 5G networks.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spc="-35" dirty="0"/>
              <a:t> </a:t>
            </a:r>
            <a:r>
              <a:rPr spc="-10" dirty="0"/>
              <a:t>Statement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43418" y="22485"/>
            <a:ext cx="712786" cy="91439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22485"/>
            <a:ext cx="878312" cy="90011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920829" y="1253169"/>
            <a:ext cx="10428605" cy="4295910"/>
          </a:xfrm>
          <a:prstGeom prst="rect">
            <a:avLst/>
          </a:prstGeom>
        </p:spPr>
        <p:txBody>
          <a:bodyPr vert="horz" wrap="square" lIns="0" tIns="756783" rIns="0" bIns="0" rtlCol="0">
            <a:spAutoFit/>
          </a:bodyPr>
          <a:lstStyle/>
          <a:p>
            <a:pPr marL="328295" indent="-316230">
              <a:lnSpc>
                <a:spcPct val="100000"/>
              </a:lnSpc>
              <a:spcBef>
                <a:spcPts val="1540"/>
              </a:spcBef>
              <a:buFont typeface="Lucida Sans Unicode"/>
              <a:buChar char="□"/>
              <a:tabLst>
                <a:tab pos="328930" algn="l"/>
              </a:tabLst>
            </a:pPr>
            <a:r>
              <a:rPr lang="en-US" sz="2400" b="0" dirty="0">
                <a:latin typeface="Times New Roman"/>
                <a:cs typeface="Times New Roman"/>
              </a:rPr>
              <a:t>Traditional networks rely on dedicated hardware devices for routing, firewall, and load balancing functions.</a:t>
            </a:r>
          </a:p>
          <a:p>
            <a:pPr marL="328295" indent="-316230">
              <a:lnSpc>
                <a:spcPct val="100000"/>
              </a:lnSpc>
              <a:spcBef>
                <a:spcPts val="1540"/>
              </a:spcBef>
              <a:buFont typeface="Lucida Sans Unicode"/>
              <a:buChar char="□"/>
              <a:tabLst>
                <a:tab pos="328930" algn="l"/>
              </a:tabLst>
            </a:pPr>
            <a:r>
              <a:rPr lang="en-US" sz="2400" b="0" dirty="0">
                <a:latin typeface="Times New Roman"/>
                <a:cs typeface="Times New Roman"/>
              </a:rPr>
              <a:t>Managing and upgrading these hardware devices is costly, time-consuming, and less flexible.</a:t>
            </a:r>
          </a:p>
          <a:p>
            <a:pPr marL="328295" indent="-316230">
              <a:lnSpc>
                <a:spcPct val="100000"/>
              </a:lnSpc>
              <a:spcBef>
                <a:spcPts val="1540"/>
              </a:spcBef>
              <a:buFont typeface="Lucida Sans Unicode"/>
              <a:buChar char="□"/>
              <a:tabLst>
                <a:tab pos="328930" algn="l"/>
              </a:tabLst>
            </a:pPr>
            <a:r>
              <a:rPr lang="en-US" sz="2400" b="0" dirty="0">
                <a:latin typeface="Times New Roman"/>
                <a:cs typeface="Times New Roman"/>
              </a:rPr>
              <a:t>Modern applications such as cloud computing and 5G networks require scalable and dynamically managed network services.</a:t>
            </a:r>
          </a:p>
          <a:p>
            <a:pPr marL="328295" indent="-316230">
              <a:lnSpc>
                <a:spcPct val="100000"/>
              </a:lnSpc>
              <a:spcBef>
                <a:spcPts val="1540"/>
              </a:spcBef>
              <a:buFont typeface="Lucida Sans Unicode"/>
              <a:buChar char="□"/>
              <a:tabLst>
                <a:tab pos="328930" algn="l"/>
              </a:tabLst>
            </a:pPr>
            <a:r>
              <a:rPr lang="en-US" sz="2400" b="0" dirty="0">
                <a:latin typeface="Times New Roman"/>
                <a:cs typeface="Times New Roman"/>
              </a:rPr>
              <a:t>Understanding how NFV integrates with the OSI architecture is necessary to design efficient, flexible, and cost-effective network infrastructures.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1A229-CE29-153B-12CC-FBAD2AF53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D2C396BE-C91F-44B8-B3FE-8445272E71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0827" y="130646"/>
            <a:ext cx="10522591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13130" algn="l">
              <a:lnSpc>
                <a:spcPct val="100000"/>
              </a:lnSpc>
              <a:spcBef>
                <a:spcPts val="100"/>
              </a:spcBef>
            </a:pPr>
            <a:r>
              <a:rPr lang="en-IN" spc="-10" dirty="0"/>
              <a:t>   Real-World Applications</a:t>
            </a:r>
            <a:endParaRPr spc="-10" dirty="0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5B9B7924-2452-671B-CCE1-95FC9B522B9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43418" y="22485"/>
            <a:ext cx="712786" cy="914398"/>
          </a:xfrm>
          <a:prstGeom prst="rect">
            <a:avLst/>
          </a:prstGeom>
        </p:spPr>
      </p:pic>
      <p:pic>
        <p:nvPicPr>
          <p:cNvPr id="4" name="object 4">
            <a:extLst>
              <a:ext uri="{FF2B5EF4-FFF2-40B4-BE49-F238E27FC236}">
                <a16:creationId xmlns:a16="http://schemas.microsoft.com/office/drawing/2014/main" id="{A687E1EF-2FE2-6AD4-4C4B-49A7DC7EC6C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22485"/>
            <a:ext cx="878312" cy="900111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D548F0DE-0BBB-D644-F209-0DFA363284AE}"/>
              </a:ext>
            </a:extLst>
          </p:cNvPr>
          <p:cNvSpPr txBox="1"/>
          <p:nvPr/>
        </p:nvSpPr>
        <p:spPr>
          <a:xfrm>
            <a:off x="920827" y="2114105"/>
            <a:ext cx="10444480" cy="3296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6080" marR="37465" indent="-374015">
              <a:lnSpc>
                <a:spcPct val="150000"/>
              </a:lnSpc>
              <a:spcBef>
                <a:spcPts val="100"/>
              </a:spcBef>
              <a:buFont typeface="Lucida Sans Unicode"/>
              <a:buChar char="□"/>
              <a:tabLst>
                <a:tab pos="386080" algn="l"/>
              </a:tabLst>
            </a:pPr>
            <a:r>
              <a:rPr lang="en-IN" sz="2400" dirty="0">
                <a:latin typeface="Times New Roman"/>
                <a:cs typeface="Times New Roman"/>
              </a:rPr>
              <a:t>Telecommunication Networks – Virtual routers and firewalls in 4G/5G networks.</a:t>
            </a:r>
          </a:p>
          <a:p>
            <a:pPr marL="386080" marR="37465" indent="-374015">
              <a:lnSpc>
                <a:spcPct val="150000"/>
              </a:lnSpc>
              <a:spcBef>
                <a:spcPts val="100"/>
              </a:spcBef>
              <a:buFont typeface="Lucida Sans Unicode"/>
              <a:buChar char="□"/>
              <a:tabLst>
                <a:tab pos="386080" algn="l"/>
              </a:tabLst>
            </a:pPr>
            <a:r>
              <a:rPr lang="en-IN" sz="2400" dirty="0">
                <a:latin typeface="Times New Roman"/>
                <a:cs typeface="Times New Roman"/>
              </a:rPr>
              <a:t>Cloud Computing – Virtual network services for cloud data </a:t>
            </a:r>
            <a:r>
              <a:rPr lang="en-IN" sz="2400" dirty="0" err="1">
                <a:latin typeface="Times New Roman"/>
                <a:cs typeface="Times New Roman"/>
              </a:rPr>
              <a:t>centers.Enterprise</a:t>
            </a:r>
            <a:r>
              <a:rPr lang="en-IN" sz="2400" dirty="0">
                <a:latin typeface="Times New Roman"/>
                <a:cs typeface="Times New Roman"/>
              </a:rPr>
              <a:t> Networks – SD-WAN, VPN, and load balancing solutions.</a:t>
            </a:r>
          </a:p>
          <a:p>
            <a:pPr marL="386080" marR="37465" indent="-374015">
              <a:lnSpc>
                <a:spcPct val="150000"/>
              </a:lnSpc>
              <a:spcBef>
                <a:spcPts val="100"/>
              </a:spcBef>
              <a:buFont typeface="Lucida Sans Unicode"/>
              <a:buChar char="□"/>
              <a:tabLst>
                <a:tab pos="386080" algn="l"/>
              </a:tabLst>
            </a:pPr>
            <a:r>
              <a:rPr lang="en-IN" sz="2400" dirty="0">
                <a:latin typeface="Times New Roman"/>
                <a:cs typeface="Times New Roman"/>
              </a:rPr>
              <a:t>Data </a:t>
            </a:r>
            <a:r>
              <a:rPr lang="en-IN" sz="2400" dirty="0" err="1">
                <a:latin typeface="Times New Roman"/>
                <a:cs typeface="Times New Roman"/>
              </a:rPr>
              <a:t>Centers</a:t>
            </a:r>
            <a:r>
              <a:rPr lang="en-IN" sz="2400" dirty="0">
                <a:latin typeface="Times New Roman"/>
                <a:cs typeface="Times New Roman"/>
              </a:rPr>
              <a:t> – Traffic management and network service automation.</a:t>
            </a:r>
          </a:p>
          <a:p>
            <a:pPr marL="386080" marR="37465" indent="-374015">
              <a:lnSpc>
                <a:spcPct val="150000"/>
              </a:lnSpc>
              <a:spcBef>
                <a:spcPts val="100"/>
              </a:spcBef>
              <a:buFont typeface="Lucida Sans Unicode"/>
              <a:buChar char="□"/>
              <a:tabLst>
                <a:tab pos="386080" algn="l"/>
              </a:tabLst>
            </a:pPr>
            <a:r>
              <a:rPr lang="en-IN" sz="2400" dirty="0">
                <a:latin typeface="Times New Roman"/>
                <a:cs typeface="Times New Roman"/>
              </a:rPr>
              <a:t>Cybersecurity – Virtual firewalls, intrusion detection, and security monitoring systems.</a:t>
            </a:r>
            <a:endParaRPr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49728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1313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Conclusion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43418" y="22485"/>
            <a:ext cx="712786" cy="91439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22485"/>
            <a:ext cx="878312" cy="90011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20827" y="1594776"/>
            <a:ext cx="10444480" cy="44297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6080" marR="37465" indent="-374015">
              <a:lnSpc>
                <a:spcPct val="150000"/>
              </a:lnSpc>
              <a:spcBef>
                <a:spcPts val="100"/>
              </a:spcBef>
              <a:buFont typeface="Lucida Sans Unicode"/>
              <a:buChar char="□"/>
              <a:tabLst>
                <a:tab pos="386080" algn="l"/>
              </a:tabLst>
            </a:pPr>
            <a:r>
              <a:rPr lang="en-IN" sz="2400" dirty="0">
                <a:latin typeface="Times New Roman"/>
                <a:cs typeface="Times New Roman"/>
              </a:rPr>
              <a:t>NFV virtualizes network functions using software instead of dedicated hardware.</a:t>
            </a:r>
          </a:p>
          <a:p>
            <a:pPr marL="386080" marR="37465" indent="-374015">
              <a:lnSpc>
                <a:spcPct val="150000"/>
              </a:lnSpc>
              <a:spcBef>
                <a:spcPts val="100"/>
              </a:spcBef>
              <a:buFont typeface="Lucida Sans Unicode"/>
              <a:buChar char="□"/>
              <a:tabLst>
                <a:tab pos="386080" algn="l"/>
              </a:tabLst>
            </a:pPr>
            <a:r>
              <a:rPr lang="en-IN" sz="2400" dirty="0">
                <a:latin typeface="Times New Roman"/>
                <a:cs typeface="Times New Roman"/>
              </a:rPr>
              <a:t>The OSI architecture provides a structured 7-layer communication model.</a:t>
            </a:r>
          </a:p>
          <a:p>
            <a:pPr marL="386080" marR="37465" indent="-374015">
              <a:lnSpc>
                <a:spcPct val="150000"/>
              </a:lnSpc>
              <a:spcBef>
                <a:spcPts val="100"/>
              </a:spcBef>
              <a:buFont typeface="Lucida Sans Unicode"/>
              <a:buChar char="□"/>
              <a:tabLst>
                <a:tab pos="386080" algn="l"/>
              </a:tabLst>
            </a:pPr>
            <a:r>
              <a:rPr lang="en-IN" sz="2400" dirty="0">
                <a:latin typeface="Times New Roman"/>
                <a:cs typeface="Times New Roman"/>
              </a:rPr>
              <a:t>Integrating NFV with the OSI model improves network flexibility, scalability, and resource efficiency.</a:t>
            </a:r>
          </a:p>
          <a:p>
            <a:pPr marL="386080" marR="37465" indent="-374015">
              <a:lnSpc>
                <a:spcPct val="150000"/>
              </a:lnSpc>
              <a:spcBef>
                <a:spcPts val="100"/>
              </a:spcBef>
              <a:buFont typeface="Lucida Sans Unicode"/>
              <a:buChar char="□"/>
              <a:tabLst>
                <a:tab pos="386080" algn="l"/>
              </a:tabLst>
            </a:pPr>
            <a:r>
              <a:rPr lang="en-IN" sz="2400" dirty="0">
                <a:latin typeface="Times New Roman"/>
                <a:cs typeface="Times New Roman"/>
              </a:rPr>
              <a:t>NFV supports modern technologies such as cloud computing, data </a:t>
            </a:r>
            <a:r>
              <a:rPr lang="en-IN" sz="2400" dirty="0" err="1">
                <a:latin typeface="Times New Roman"/>
                <a:cs typeface="Times New Roman"/>
              </a:rPr>
              <a:t>centers</a:t>
            </a:r>
            <a:r>
              <a:rPr lang="en-IN" sz="2400" dirty="0">
                <a:latin typeface="Times New Roman"/>
                <a:cs typeface="Times New Roman"/>
              </a:rPr>
              <a:t>, and 5G networks.</a:t>
            </a:r>
          </a:p>
          <a:p>
            <a:pPr marL="386080" marR="37465" indent="-374015">
              <a:lnSpc>
                <a:spcPct val="150000"/>
              </a:lnSpc>
              <a:spcBef>
                <a:spcPts val="100"/>
              </a:spcBef>
              <a:buFont typeface="Lucida Sans Unicode"/>
              <a:buChar char="□"/>
              <a:tabLst>
                <a:tab pos="386080" algn="l"/>
              </a:tabLst>
            </a:pPr>
            <a:r>
              <a:rPr lang="en-IN" sz="2400" dirty="0">
                <a:latin typeface="Times New Roman"/>
                <a:cs typeface="Times New Roman"/>
              </a:rPr>
              <a:t>Overall, NFV and the OSI architecture together enable efficient, cost-effective, and next-generation network management.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962400" y="2873603"/>
            <a:ext cx="3370579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Thank</a:t>
            </a:r>
            <a:r>
              <a:rPr spc="-225" dirty="0"/>
              <a:t> </a:t>
            </a:r>
            <a:r>
              <a:rPr spc="-600" dirty="0"/>
              <a:t>Y</a:t>
            </a:r>
            <a:r>
              <a:rPr spc="15" dirty="0"/>
              <a:t>ou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43418" y="22485"/>
            <a:ext cx="712786" cy="91439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22485"/>
            <a:ext cx="878312" cy="90011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Words>449</Words>
  <Application>Microsoft Office PowerPoint</Application>
  <PresentationFormat>Widescreen</PresentationFormat>
  <Paragraphs>41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Lucida Sans Unicode</vt:lpstr>
      <vt:lpstr>Times New Roman</vt:lpstr>
      <vt:lpstr>Wingdings</vt:lpstr>
      <vt:lpstr>Office Theme</vt:lpstr>
      <vt:lpstr>PowerPoint Presentation</vt:lpstr>
      <vt:lpstr>Abstract</vt:lpstr>
      <vt:lpstr>Introduction</vt:lpstr>
      <vt:lpstr>Objectives</vt:lpstr>
      <vt:lpstr>Problem Statement</vt:lpstr>
      <vt:lpstr>   Real-World Applications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11 .pptx</dc:title>
  <dc:creator>siddartha y</dc:creator>
  <cp:lastModifiedBy>siddartha achari</cp:lastModifiedBy>
  <cp:revision>1</cp:revision>
  <dcterms:created xsi:type="dcterms:W3CDTF">2026-07-29T03:00:22Z</dcterms:created>
  <dcterms:modified xsi:type="dcterms:W3CDTF">2026-07-29T03:40:46Z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2026-07-29T00:00:00Z</vt:filetime>
  </property>
  <property fmtid="{D5CDD505-2E9C-101B-9397-08002B2CF9AE}" pid="4" name="Creator">
    <vt:lpwstr>Google</vt:lpwstr>
  </property>
  <property fmtid="{D5CDD505-2E9C-101B-9397-08002B2CF9AE}" pid="5" name="LastSaved">
    <vt:filetime>2026-07-29T00:00:00Z</vt:filetime>
  </property>
</Properties>
</file>